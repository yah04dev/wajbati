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6" r:id="rId4"/>
    <p:sldId id="258" r:id="rId5"/>
    <p:sldId id="259" r:id="rId6"/>
    <p:sldId id="260" r:id="rId7"/>
    <p:sldId id="264" r:id="rId8"/>
    <p:sldId id="265" r:id="rId9"/>
    <p:sldId id="261" r:id="rId10"/>
    <p:sldId id="262" r:id="rId11"/>
    <p:sldId id="263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28095"/>
    <a:srgbClr val="64748B"/>
    <a:srgbClr val="CFEDE5"/>
    <a:srgbClr val="D2F2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88" autoAdjust="0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4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0110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15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2868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3451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1828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>
                    <a:alpha val="50000"/>
                  </a:srgbClr>
                </a:solidFill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Wajbati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Website for Personalized Dietary Assessment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AI-Assisted Calorie Tracking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27432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063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Benamrouche</a:t>
            </a:r>
            <a:r>
              <a:rPr lang="en-US" sz="1300" b="1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Yahia</a:t>
            </a: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Abdeljallil</a:t>
            </a:r>
            <a:r>
              <a:rPr lang="en-US" sz="1300" b="1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Bensmira Hamza Abdarrahmane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Bechinia Hadjer   |   June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Abdelhamid Mehri – Constantine 2  |  NTIC </a:t>
            </a:r>
            <a:r>
              <a:rPr lang="en-US" sz="1100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</a:t>
            </a:r>
            <a:r>
              <a:rPr lang="en-US" sz="1100" dirty="0" smtClean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IFA Department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3B38"/>
          </a:solidFill>
          <a:ln w="12700">
            <a:solidFill>
              <a:srgbClr val="0D3B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  |  Introduction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2743200" cy="4160520"/>
          </a:xfrm>
          <a:prstGeom prst="rect">
            <a:avLst/>
          </a:prstGeom>
          <a:solidFill>
            <a:srgbClr val="F1F5F4"/>
          </a:solidFill>
          <a:ln w="12700">
            <a:solidFill>
              <a:srgbClr val="E0EB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85800"/>
            <a:ext cx="2743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⚠️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3B38"/>
                </a:solidFill>
              </a:rPr>
              <a:t>Global Obesity Crisis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14884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E2B"/>
                </a:solidFill>
              </a:rPr>
              <a:t>Over 1 billion people worldwide live with obesity. Poor diet habits remain the leading cause, demanding smarter nutritional tools.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685800"/>
            <a:ext cx="2743200" cy="4160520"/>
          </a:xfrm>
          <a:prstGeom prst="rect">
            <a:avLst/>
          </a:prstGeom>
          <a:solidFill>
            <a:srgbClr val="F1F5F4"/>
          </a:solidFill>
          <a:ln w="12700">
            <a:solidFill>
              <a:srgbClr val="E0EB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685800"/>
            <a:ext cx="2743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914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91840" y="1554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3B38"/>
                </a:solidFill>
              </a:rPr>
              <a:t>Calorie Tracking Challenge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214884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E2B"/>
                </a:solidFill>
              </a:rPr>
              <a:t>Manual logging is tedious and inaccurate. Existing apps rely on text search with no image-based automation or clinical guidance.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685800"/>
            <a:ext cx="2743200" cy="4160520"/>
          </a:xfrm>
          <a:prstGeom prst="rect">
            <a:avLst/>
          </a:prstGeom>
          <a:solidFill>
            <a:srgbClr val="F1F5F4"/>
          </a:solidFill>
          <a:ln w="12700">
            <a:solidFill>
              <a:srgbClr val="E0EB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685800"/>
            <a:ext cx="2743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914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💡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217920" y="1554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3B38"/>
                </a:solidFill>
              </a:rPr>
              <a:t>Our Solution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214884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E2B"/>
                </a:solidFill>
              </a:rPr>
              <a:t>An AI-powered web platform combining food image recognition, personalized diet plans, and nutritionist consultations in one place.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3B38"/>
          </a:solidFill>
          <a:ln w="12700">
            <a:solidFill>
              <a:srgbClr val="0D3B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smtClean="0">
                <a:solidFill>
                  <a:srgbClr val="FFFFFF"/>
                </a:solidFill>
              </a:rPr>
              <a:t>03  </a:t>
            </a:r>
            <a:r>
              <a:rPr lang="en-US" sz="1400" b="1" dirty="0">
                <a:solidFill>
                  <a:srgbClr val="FFFFFF"/>
                </a:solidFill>
              </a:rPr>
              <a:t>|  </a:t>
            </a:r>
            <a:r>
              <a:rPr lang="en-US" sz="1400" b="1" dirty="0" smtClean="0">
                <a:solidFill>
                  <a:srgbClr val="FFFFFF"/>
                </a:solidFill>
              </a:rPr>
              <a:t>Introduction (Business Model Canvas)</a:t>
            </a:r>
            <a:endParaRPr lang="en-US" sz="1400" dirty="0"/>
          </a:p>
        </p:txBody>
      </p:sp>
      <p:pic>
        <p:nvPicPr>
          <p:cNvPr id="19" name="Imag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216" y="566928"/>
            <a:ext cx="7387033" cy="4580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633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3B38"/>
          </a:solidFill>
          <a:ln w="12700">
            <a:solidFill>
              <a:srgbClr val="0D3B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smtClean="0">
                <a:solidFill>
                  <a:srgbClr val="FFFFFF"/>
                </a:solidFill>
              </a:rPr>
              <a:t>04  </a:t>
            </a:r>
            <a:r>
              <a:rPr lang="en-US" sz="1400" b="1" dirty="0">
                <a:solidFill>
                  <a:srgbClr val="FFFFFF"/>
                </a:solidFill>
              </a:rPr>
              <a:t>|  Related Work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0928314"/>
              </p:ext>
            </p:extLst>
          </p:nvPr>
        </p:nvGraphicFramePr>
        <p:xfrm>
          <a:off x="274320" y="640080"/>
          <a:ext cx="8503920" cy="4297678"/>
        </p:xfrm>
        <a:graphic>
          <a:graphicData uri="http://schemas.openxmlformats.org/drawingml/2006/table">
            <a:tbl>
              <a:tblPr/>
              <a:tblGrid>
                <a:gridCol w="2286000"/>
                <a:gridCol w="2103120"/>
                <a:gridCol w="2743200"/>
                <a:gridCol w="1371600"/>
              </a:tblGrid>
              <a:tr h="6139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Approach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Limitation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Our Advantage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38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E2B"/>
                          </a:solidFill>
                        </a:rPr>
                        <a:t>Sathish et al. (2022)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E2B"/>
                          </a:solidFill>
                        </a:rPr>
                        <a:t>CNN Classification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E2B"/>
                          </a:solidFill>
                        </a:rPr>
                        <a:t>Single food, no segmentation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2C39A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E2B"/>
                          </a:solidFill>
                        </a:rPr>
                        <a:t>Tjandra et al. (2025)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E2B"/>
                          </a:solidFill>
                        </a:rPr>
                        <a:t>Mobile CNN App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E2B"/>
                          </a:solidFill>
                        </a:rPr>
                        <a:t>Classification only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2C39A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E2B"/>
                          </a:solidFill>
                        </a:rPr>
                        <a:t>Saad et al. (2025)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E2B"/>
                          </a:solidFill>
                        </a:rPr>
                        <a:t>YOLO + Database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E2B"/>
                          </a:solidFill>
                        </a:rPr>
                        <a:t>No instance masks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2C39A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E2B"/>
                          </a:solidFill>
                        </a:rPr>
                        <a:t>Shao et al. (2023)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E2B"/>
                          </a:solidFill>
                        </a:rPr>
                        <a:t>RGB-D Fusion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E2B"/>
                          </a:solidFill>
                        </a:rPr>
                        <a:t>Requires depth sensor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smtClean="0">
                          <a:solidFill>
                            <a:srgbClr val="02C39A"/>
                          </a:solidFill>
                        </a:rPr>
                        <a:t>✓</a:t>
                      </a:r>
                      <a:endParaRPr lang="en-US" sz="1100" dirty="0" smtClean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E2B"/>
                          </a:solidFill>
                        </a:rPr>
                        <a:t>Wimalasiri (2024)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E2B"/>
                          </a:solidFill>
                        </a:rPr>
                        <a:t>2D Weight Est.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E2B"/>
                          </a:solidFill>
                        </a:rPr>
                        <a:t>No calorie output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2C39A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E2B"/>
                          </a:solidFill>
                        </a:rPr>
                        <a:t>Gautam et al. (2025)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E2B"/>
                          </a:solidFill>
                        </a:rPr>
                        <a:t>Recipe Recognition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E2B"/>
                          </a:solidFill>
                        </a:rPr>
                        <a:t>No portion estimation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2C39A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028090"/>
                </a:solidFill>
              </a:rPr>
              <a:t>Our approach is the only one combining multi-food segmentation + calorie estimation + web deployment.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3B38"/>
          </a:solidFill>
          <a:ln w="12700">
            <a:solidFill>
              <a:srgbClr val="0D3B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smtClean="0">
                <a:solidFill>
                  <a:srgbClr val="FFFFFF"/>
                </a:solidFill>
              </a:rPr>
              <a:t>05  </a:t>
            </a:r>
            <a:r>
              <a:rPr lang="en-US" sz="1400" b="1" dirty="0">
                <a:solidFill>
                  <a:srgbClr val="FFFFFF"/>
                </a:solidFill>
              </a:rPr>
              <a:t>|  Proposed Platform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3B38"/>
                </a:solidFill>
              </a:rPr>
              <a:t>Wajbati — Key Features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60520" cy="1051560"/>
          </a:xfrm>
          <a:prstGeom prst="rect">
            <a:avLst/>
          </a:prstGeom>
          <a:solidFill>
            <a:srgbClr val="F1F5F4"/>
          </a:solidFill>
          <a:ln w="12700">
            <a:solidFill>
              <a:srgbClr val="D8EDE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64008" cy="10515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2618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38"/>
                </a:solidFill>
              </a:rPr>
              <a:t>AI Food Detection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6002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YOLOv8s-seg detects &amp; segments food items from uploaded meal photos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1"/>
            <a:ext cx="4160520" cy="694458"/>
          </a:xfrm>
          <a:prstGeom prst="rect">
            <a:avLst/>
          </a:prstGeom>
          <a:solidFill>
            <a:srgbClr val="F1F5F4"/>
          </a:solidFill>
          <a:ln w="12700">
            <a:solidFill>
              <a:srgbClr val="D8EDE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4588" y="1188720"/>
            <a:ext cx="68580" cy="694459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31828" y="117500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38"/>
                </a:solidFill>
              </a:rPr>
              <a:t>Calorie Tracking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40680" y="1384441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Automatic calorie &amp; macro estimation using USDA FoodData Central database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423160"/>
            <a:ext cx="4160520" cy="1051560"/>
          </a:xfrm>
          <a:prstGeom prst="rect">
            <a:avLst/>
          </a:prstGeom>
          <a:solidFill>
            <a:srgbClr val="F1F5F4"/>
          </a:solidFill>
          <a:ln w="12700">
            <a:solidFill>
              <a:srgbClr val="D8EDE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423160"/>
            <a:ext cx="64008" cy="10515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49631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👨‍⚕️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05840" y="24963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38"/>
                </a:solidFill>
              </a:rPr>
              <a:t>Nutritionist Booking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2834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Clients book consultations with certified nutritionists via the platform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2080212"/>
            <a:ext cx="4160520" cy="750975"/>
          </a:xfrm>
          <a:prstGeom prst="rect">
            <a:avLst/>
          </a:prstGeom>
          <a:solidFill>
            <a:srgbClr val="F1F5F4"/>
          </a:solidFill>
          <a:ln w="12700">
            <a:solidFill>
              <a:srgbClr val="D8EDE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22876" y="2102294"/>
            <a:ext cx="64008" cy="750975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19008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40680" y="211683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38"/>
                </a:solidFill>
              </a:rPr>
              <a:t>Progress Dashboard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31828" y="2311147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Track daily calories consumed/burned and weight evolution over time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3657600"/>
            <a:ext cx="4160520" cy="1051560"/>
          </a:xfrm>
          <a:prstGeom prst="rect">
            <a:avLst/>
          </a:prstGeom>
          <a:solidFill>
            <a:srgbClr val="F1F5F4"/>
          </a:solidFill>
          <a:ln w="12700">
            <a:solidFill>
              <a:srgbClr val="D8EDE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657600"/>
            <a:ext cx="64008" cy="10515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7307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💳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05840" y="37307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38"/>
                </a:solidFill>
              </a:rPr>
              <a:t>Premium Subscription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" y="40690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Chargily payment gateway integration for premium access simulation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87371" y="3080702"/>
            <a:ext cx="4160520" cy="668291"/>
          </a:xfrm>
          <a:prstGeom prst="rect">
            <a:avLst/>
          </a:prstGeom>
          <a:solidFill>
            <a:srgbClr val="F1F5F4"/>
          </a:solidFill>
          <a:ln w="12700">
            <a:solidFill>
              <a:srgbClr val="D8EDE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3081433"/>
            <a:ext cx="64008" cy="668291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7157" y="31318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🎥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376672" y="3071071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38"/>
                </a:solidFill>
              </a:rPr>
              <a:t>Video Meetings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94960" y="326927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Built-in Jitsi meeting rooms for client-nutritionist video sessions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4687371" y="4050792"/>
            <a:ext cx="4160520" cy="668291"/>
          </a:xfrm>
          <a:prstGeom prst="rect">
            <a:avLst/>
          </a:prstGeom>
          <a:solidFill>
            <a:srgbClr val="F1F5F4"/>
          </a:solidFill>
          <a:ln w="12700">
            <a:solidFill>
              <a:srgbClr val="D8EDE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Text 32"/>
          <p:cNvSpPr/>
          <p:nvPr/>
        </p:nvSpPr>
        <p:spPr>
          <a:xfrm>
            <a:off x="5376672" y="4261396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smtClean="0">
                <a:solidFill>
                  <a:srgbClr val="64748B"/>
                </a:solidFill>
              </a:rPr>
              <a:t>A chef </a:t>
            </a:r>
            <a:r>
              <a:rPr lang="en-US" sz="1050" dirty="0" err="1" smtClean="0">
                <a:solidFill>
                  <a:srgbClr val="64748B"/>
                </a:solidFill>
              </a:rPr>
              <a:t>chatbot</a:t>
            </a:r>
            <a:r>
              <a:rPr lang="en-US" sz="1050" dirty="0" smtClean="0">
                <a:solidFill>
                  <a:srgbClr val="64748B"/>
                </a:solidFill>
              </a:rPr>
              <a:t> to give delicious </a:t>
            </a:r>
            <a:r>
              <a:rPr lang="en-US" sz="1050" dirty="0" smtClean="0">
                <a:solidFill>
                  <a:srgbClr val="64748B"/>
                </a:solidFill>
              </a:rPr>
              <a:t>cooking recipes </a:t>
            </a:r>
            <a:endParaRPr lang="en-US" sz="1050" dirty="0"/>
          </a:p>
        </p:txBody>
      </p:sp>
      <p:sp>
        <p:nvSpPr>
          <p:cNvPr id="37" name="Text 31"/>
          <p:cNvSpPr/>
          <p:nvPr/>
        </p:nvSpPr>
        <p:spPr>
          <a:xfrm>
            <a:off x="5354883" y="40845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smtClean="0">
                <a:solidFill>
                  <a:srgbClr val="0D3B38"/>
                </a:solidFill>
              </a:rPr>
              <a:t>Chef </a:t>
            </a:r>
            <a:r>
              <a:rPr lang="en-US" sz="1200" b="1" dirty="0" err="1" smtClean="0">
                <a:solidFill>
                  <a:srgbClr val="0D3B38"/>
                </a:solidFill>
              </a:rPr>
              <a:t>Chatbot</a:t>
            </a:r>
            <a:endParaRPr lang="en-US" sz="1200" dirty="0"/>
          </a:p>
        </p:txBody>
      </p:sp>
      <p:sp>
        <p:nvSpPr>
          <p:cNvPr id="38" name="Shape 29"/>
          <p:cNvSpPr/>
          <p:nvPr/>
        </p:nvSpPr>
        <p:spPr>
          <a:xfrm>
            <a:off x="4704588" y="4059692"/>
            <a:ext cx="64008" cy="668291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3B38"/>
          </a:solidFill>
          <a:ln w="12700">
            <a:solidFill>
              <a:srgbClr val="0D3B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smtClean="0">
                <a:solidFill>
                  <a:srgbClr val="FFFFFF"/>
                </a:solidFill>
              </a:rPr>
              <a:t>06  </a:t>
            </a:r>
            <a:r>
              <a:rPr lang="en-US" sz="1400" b="1" dirty="0">
                <a:solidFill>
                  <a:srgbClr val="FFFFFF"/>
                </a:solidFill>
              </a:rPr>
              <a:t>|  AI-Based Calorie Estimation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685800"/>
            <a:ext cx="1920240" cy="3474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87552" y="795528"/>
            <a:ext cx="594360" cy="5943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7955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3B38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Acquisition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011680"/>
            <a:ext cx="1737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FoodInsSeg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7,118 images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103 food classes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COCO format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58568" y="1463040"/>
            <a:ext cx="201168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685800"/>
            <a:ext cx="1920240" cy="3474720"/>
          </a:xfrm>
          <a:prstGeom prst="rect">
            <a:avLst/>
          </a:prstGeom>
          <a:solidFill>
            <a:srgbClr val="027A82"/>
          </a:solidFill>
          <a:ln w="12700">
            <a:solidFill>
              <a:srgbClr val="027A8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36392" y="795528"/>
            <a:ext cx="594360" cy="5943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36392" y="7955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3B38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60320" y="14813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Preprocessing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2011680"/>
            <a:ext cx="1737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COCO → YOLO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Polygon normalize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data.yaml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Train/Val split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07408" y="1463040"/>
            <a:ext cx="201168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17720" y="685800"/>
            <a:ext cx="1920240" cy="3474720"/>
          </a:xfrm>
          <a:prstGeom prst="rect">
            <a:avLst/>
          </a:prstGeom>
          <a:solidFill>
            <a:srgbClr val="025B62"/>
          </a:solidFill>
          <a:ln w="12700">
            <a:solidFill>
              <a:srgbClr val="025B6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85232" y="795528"/>
            <a:ext cx="594360" cy="5943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85232" y="7955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3B38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09160" y="14813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Food Detection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09160" y="2011680"/>
            <a:ext cx="1737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YOLOv8s-seg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CSPDarknet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PANet FPN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Seg. head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556248" y="1463040"/>
            <a:ext cx="201168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66560" y="685800"/>
            <a:ext cx="1920240" cy="3474720"/>
          </a:xfrm>
          <a:prstGeom prst="rect">
            <a:avLst/>
          </a:prstGeom>
          <a:solidFill>
            <a:srgbClr val="0D3B38"/>
          </a:solidFill>
          <a:ln w="12700">
            <a:solidFill>
              <a:srgbClr val="0D3B3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34072" y="795528"/>
            <a:ext cx="594360" cy="5943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34072" y="7955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3B38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58000" y="14813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Calorie Estimation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0" y="2011680"/>
            <a:ext cx="1737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Mask area 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portion size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USDA DB lookup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Kcal + macros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" y="4297680"/>
            <a:ext cx="8503920" cy="594360"/>
          </a:xfrm>
          <a:prstGeom prst="rect">
            <a:avLst/>
          </a:prstGeom>
          <a:solidFill>
            <a:srgbClr val="E8F8F5"/>
          </a:solidFill>
          <a:ln w="12700">
            <a:solidFill>
              <a:srgbClr val="C0DDD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11480" y="437083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3B38"/>
                </a:solidFill>
              </a:rPr>
              <a:t>Output per detected food item:   Food Name   |   Calories (kcal)   |   Protein (g)   |   Carbs (g)   |   Fat (g)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3B38"/>
          </a:solidFill>
          <a:ln w="12700">
            <a:solidFill>
              <a:srgbClr val="0D3B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smtClean="0">
                <a:solidFill>
                  <a:srgbClr val="FFFFFF"/>
                </a:solidFill>
              </a:rPr>
              <a:t>07  </a:t>
            </a:r>
            <a:r>
              <a:rPr lang="en-US" sz="1400" b="1" dirty="0">
                <a:solidFill>
                  <a:srgbClr val="FFFFFF"/>
                </a:solidFill>
              </a:rPr>
              <a:t>|  Experiments &amp; </a:t>
            </a:r>
            <a:r>
              <a:rPr lang="en-US" sz="1400" b="1" dirty="0" smtClean="0">
                <a:solidFill>
                  <a:srgbClr val="FFFFFF"/>
                </a:solidFill>
              </a:rPr>
              <a:t>Results (Model 1)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585216"/>
            <a:ext cx="8595360" cy="583660"/>
          </a:xfrm>
          <a:prstGeom prst="rect">
            <a:avLst/>
          </a:prstGeom>
          <a:solidFill>
            <a:srgbClr val="F1F5F4"/>
          </a:solidFill>
          <a:ln w="12700">
            <a:solidFill>
              <a:srgbClr val="D0E4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585216"/>
            <a:ext cx="8229600" cy="583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1A2E2B"/>
                </a:solidFill>
              </a:rPr>
              <a:t> Training Environment: </a:t>
            </a:r>
            <a:r>
              <a:rPr lang="en-US" sz="1050" dirty="0" err="1">
                <a:solidFill>
                  <a:srgbClr val="1A2E2B"/>
                </a:solidFill>
              </a:rPr>
              <a:t>Kaggle</a:t>
            </a:r>
            <a:r>
              <a:rPr lang="en-US" sz="1050" dirty="0">
                <a:solidFill>
                  <a:srgbClr val="1A2E2B"/>
                </a:solidFill>
              </a:rPr>
              <a:t>  •  2× NVIDIA Tesla T4  •  Python + </a:t>
            </a:r>
            <a:r>
              <a:rPr lang="en-US" sz="1050" dirty="0" err="1">
                <a:solidFill>
                  <a:srgbClr val="1A2E2B"/>
                </a:solidFill>
              </a:rPr>
              <a:t>PyTorch</a:t>
            </a:r>
            <a:endParaRPr lang="en-US" sz="1050" dirty="0">
              <a:solidFill>
                <a:srgbClr val="1A2E2B"/>
              </a:solidFill>
            </a:endParaRPr>
          </a:p>
          <a:p>
            <a:r>
              <a:rPr lang="en-GB" sz="1050" dirty="0"/>
              <a:t>  Training: 100 epochs max, early stopping patience=20, stopped at epoch 68 after 6 hours</a:t>
            </a:r>
          </a:p>
          <a:p>
            <a:r>
              <a:rPr lang="en-US" sz="1050" dirty="0"/>
              <a:t>  </a:t>
            </a:r>
            <a:r>
              <a:rPr lang="en-GB" sz="1050" dirty="0"/>
              <a:t>Base model: YOLOv8s-seg </a:t>
            </a:r>
            <a:r>
              <a:rPr lang="en-GB" sz="1050" dirty="0" err="1"/>
              <a:t>pretrained</a:t>
            </a:r>
            <a:r>
              <a:rPr lang="en-GB" sz="1050" dirty="0"/>
              <a:t> on COCO, freeze=5 layers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1939503"/>
              </p:ext>
            </p:extLst>
          </p:nvPr>
        </p:nvGraphicFramePr>
        <p:xfrm>
          <a:off x="274321" y="1251172"/>
          <a:ext cx="8500026" cy="538480"/>
        </p:xfrm>
        <a:graphic>
          <a:graphicData uri="http://schemas.openxmlformats.org/drawingml/2006/table">
            <a:tbl>
              <a:tblPr/>
              <a:tblGrid>
                <a:gridCol w="1856036"/>
                <a:gridCol w="1206230"/>
                <a:gridCol w="2001580"/>
                <a:gridCol w="1265962"/>
                <a:gridCol w="1085109"/>
                <a:gridCol w="1085109"/>
              </a:tblGrid>
              <a:tr h="2152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Classes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 smtClean="0">
                          <a:solidFill>
                            <a:srgbClr val="FFFFFF"/>
                          </a:solidFill>
                        </a:rPr>
                        <a:t>maP@0.5          mAP@0.5:0.95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Epochs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38"/>
                    </a:solidFill>
                  </a:tcPr>
                </a:tc>
              </a:tr>
              <a:tr h="2152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E2B"/>
                          </a:solidFill>
                        </a:rPr>
                        <a:t>Model 1 — Full Training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2B"/>
                          </a:solidFill>
                        </a:rPr>
                        <a:t>103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 smtClean="0">
                          <a:solidFill>
                            <a:srgbClr val="1A2E2B"/>
                          </a:solidFill>
                        </a:rPr>
                        <a:t>  0.1845                     0.1243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2B"/>
                          </a:solidFill>
                        </a:rPr>
                        <a:t>0.2988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2B"/>
                          </a:solidFill>
                        </a:rPr>
                        <a:t>0.2302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2B"/>
                          </a:solidFill>
                        </a:rPr>
                        <a:t>68 / 100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</a:tr>
            </a:tbl>
          </a:graphicData>
        </a:graphic>
      </p:graphicFrame>
      <p:cxnSp>
        <p:nvCxnSpPr>
          <p:cNvPr id="19" name="Connecteur droit 18"/>
          <p:cNvCxnSpPr/>
          <p:nvPr/>
        </p:nvCxnSpPr>
        <p:spPr>
          <a:xfrm>
            <a:off x="4202350" y="1251172"/>
            <a:ext cx="9727" cy="538480"/>
          </a:xfrm>
          <a:prstGeom prst="line">
            <a:avLst/>
          </a:prstGeom>
          <a:ln>
            <a:solidFill>
              <a:srgbClr val="CFE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923" y="1898131"/>
            <a:ext cx="4165522" cy="3078565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7445" y="1870382"/>
            <a:ext cx="4568109" cy="3106314"/>
          </a:xfrm>
          <a:prstGeom prst="rect">
            <a:avLst/>
          </a:prstGeom>
        </p:spPr>
      </p:pic>
      <p:cxnSp>
        <p:nvCxnSpPr>
          <p:cNvPr id="11" name="Connecteur droit 10"/>
          <p:cNvCxnSpPr/>
          <p:nvPr/>
        </p:nvCxnSpPr>
        <p:spPr>
          <a:xfrm>
            <a:off x="4231532" y="1960858"/>
            <a:ext cx="0" cy="299968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8599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3B38"/>
          </a:solidFill>
          <a:ln w="12700">
            <a:solidFill>
              <a:srgbClr val="0D3B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smtClean="0">
                <a:solidFill>
                  <a:srgbClr val="FFFFFF"/>
                </a:solidFill>
              </a:rPr>
              <a:t>08  </a:t>
            </a:r>
            <a:r>
              <a:rPr lang="en-US" sz="1400" b="1" dirty="0">
                <a:solidFill>
                  <a:srgbClr val="FFFFFF"/>
                </a:solidFill>
              </a:rPr>
              <a:t>|  Experiments &amp; </a:t>
            </a:r>
            <a:r>
              <a:rPr lang="en-US" sz="1400" b="1" dirty="0" smtClean="0">
                <a:solidFill>
                  <a:srgbClr val="FFFFFF"/>
                </a:solidFill>
              </a:rPr>
              <a:t>Results (Model 2)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585216"/>
            <a:ext cx="8595360" cy="690860"/>
          </a:xfrm>
          <a:prstGeom prst="rect">
            <a:avLst/>
          </a:prstGeom>
          <a:solidFill>
            <a:srgbClr val="F1F5F4"/>
          </a:solidFill>
          <a:ln w="12700">
            <a:solidFill>
              <a:srgbClr val="D0E4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566928"/>
            <a:ext cx="8229600" cy="583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smtClean="0">
                <a:solidFill>
                  <a:srgbClr val="1A2E2B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1050" dirty="0" smtClean="0">
                <a:solidFill>
                  <a:srgbClr val="1A2E2B"/>
                </a:solidFill>
              </a:rPr>
              <a:t>Training </a:t>
            </a:r>
            <a:r>
              <a:rPr lang="en-US" sz="1050" dirty="0">
                <a:solidFill>
                  <a:srgbClr val="1A2E2B"/>
                </a:solidFill>
              </a:rPr>
              <a:t>Environment: Kaggle  •  2× NVIDIA Tesla T4  •  Python </a:t>
            </a:r>
            <a:r>
              <a:rPr lang="en-US" sz="1050" dirty="0" smtClean="0">
                <a:solidFill>
                  <a:srgbClr val="1A2E2B"/>
                </a:solidFill>
              </a:rPr>
              <a:t>+ </a:t>
            </a:r>
            <a:r>
              <a:rPr lang="en-US" sz="1050" dirty="0" err="1" smtClean="0">
                <a:solidFill>
                  <a:srgbClr val="1A2E2B"/>
                </a:solidFill>
              </a:rPr>
              <a:t>PyTorch</a:t>
            </a:r>
            <a:endParaRPr lang="en-US" sz="1050" dirty="0" smtClean="0">
              <a:solidFill>
                <a:srgbClr val="1A2E2B"/>
              </a:solidFill>
            </a:endParaRPr>
          </a:p>
          <a:p>
            <a:r>
              <a:rPr lang="en-GB" sz="1050" dirty="0"/>
              <a:t>Fine-tuned from Model 1 weights using transfer learning</a:t>
            </a:r>
          </a:p>
          <a:p>
            <a:r>
              <a:rPr lang="en-GB" sz="1050" dirty="0" smtClean="0"/>
              <a:t>-</a:t>
            </a:r>
            <a:r>
              <a:rPr lang="ar-DZ" sz="1050" dirty="0" smtClean="0"/>
              <a:t> </a:t>
            </a:r>
            <a:r>
              <a:rPr lang="en-GB" sz="1050" dirty="0" smtClean="0"/>
              <a:t>Reduced </a:t>
            </a:r>
            <a:r>
              <a:rPr lang="en-GB" sz="1050" dirty="0"/>
              <a:t>to 26 most common food classes, freeze=3 layers, </a:t>
            </a:r>
            <a:r>
              <a:rPr lang="en-GB" sz="1050" dirty="0" err="1"/>
              <a:t>lr</a:t>
            </a:r>
            <a:r>
              <a:rPr lang="en-GB" sz="1050" dirty="0"/>
              <a:t>=0.0003</a:t>
            </a:r>
          </a:p>
          <a:p>
            <a:r>
              <a:rPr lang="en-GB" sz="1050" dirty="0" smtClean="0"/>
              <a:t>- Training</a:t>
            </a:r>
            <a:r>
              <a:rPr lang="en-GB" sz="1050" dirty="0"/>
              <a:t>: 60 epochs max, early stopping, converged at epoch </a:t>
            </a:r>
            <a:r>
              <a:rPr lang="en-GB" sz="1050" dirty="0" smtClean="0"/>
              <a:t>45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9071803"/>
              </p:ext>
            </p:extLst>
          </p:nvPr>
        </p:nvGraphicFramePr>
        <p:xfrm>
          <a:off x="274321" y="1349227"/>
          <a:ext cx="8500026" cy="538480"/>
        </p:xfrm>
        <a:graphic>
          <a:graphicData uri="http://schemas.openxmlformats.org/drawingml/2006/table">
            <a:tbl>
              <a:tblPr/>
              <a:tblGrid>
                <a:gridCol w="1856036"/>
                <a:gridCol w="1206230"/>
                <a:gridCol w="2001580"/>
                <a:gridCol w="1265962"/>
                <a:gridCol w="1085109"/>
                <a:gridCol w="1085109"/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Classes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 smtClean="0">
                          <a:solidFill>
                            <a:srgbClr val="FFFFFF"/>
                          </a:solidFill>
                        </a:rPr>
                        <a:t>maP@0.5          mAP@0.5:0.95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Epochs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D3B38"/>
                          </a:solidFill>
                        </a:rPr>
                        <a:t>Model 2 — </a:t>
                      </a:r>
                      <a:r>
                        <a:rPr lang="en-US" sz="1100" b="1" dirty="0" smtClean="0">
                          <a:solidFill>
                            <a:srgbClr val="0D3B38"/>
                          </a:solidFill>
                        </a:rPr>
                        <a:t>Fine-tuned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3B38"/>
                          </a:solidFill>
                        </a:rPr>
                        <a:t>26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 smtClean="0">
                          <a:solidFill>
                            <a:srgbClr val="0D3B38"/>
                          </a:solidFill>
                        </a:rPr>
                        <a:t>   0.3180                          0.2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3B38"/>
                          </a:solidFill>
                        </a:rPr>
                        <a:t>0.3900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3B38"/>
                          </a:solidFill>
                        </a:rPr>
                        <a:t>0.3500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3B38"/>
                          </a:solidFill>
                        </a:rPr>
                        <a:t>45 / 60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</a:tr>
            </a:tbl>
          </a:graphicData>
        </a:graphic>
      </p:graphicFrame>
      <p:cxnSp>
        <p:nvCxnSpPr>
          <p:cNvPr id="19" name="Connecteur droit 18"/>
          <p:cNvCxnSpPr/>
          <p:nvPr/>
        </p:nvCxnSpPr>
        <p:spPr>
          <a:xfrm>
            <a:off x="4212077" y="1645920"/>
            <a:ext cx="9727" cy="807720"/>
          </a:xfrm>
          <a:prstGeom prst="line">
            <a:avLst/>
          </a:prstGeom>
          <a:ln>
            <a:solidFill>
              <a:srgbClr val="CFE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51" y="1871948"/>
            <a:ext cx="4147353" cy="3100691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6752" y="1942743"/>
            <a:ext cx="4337595" cy="2959100"/>
          </a:xfrm>
          <a:prstGeom prst="rect">
            <a:avLst/>
          </a:prstGeom>
        </p:spPr>
      </p:pic>
      <p:cxnSp>
        <p:nvCxnSpPr>
          <p:cNvPr id="10" name="Connecteur droit 9"/>
          <p:cNvCxnSpPr/>
          <p:nvPr/>
        </p:nvCxnSpPr>
        <p:spPr>
          <a:xfrm>
            <a:off x="4231532" y="1960858"/>
            <a:ext cx="0" cy="299968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7985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3B38"/>
          </a:solidFill>
          <a:ln w="12700">
            <a:solidFill>
              <a:srgbClr val="0D3B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smtClean="0">
                <a:solidFill>
                  <a:srgbClr val="FFFFFF"/>
                </a:solidFill>
              </a:rPr>
              <a:t>09  </a:t>
            </a:r>
            <a:r>
              <a:rPr lang="en-US" sz="1400" b="1" dirty="0">
                <a:solidFill>
                  <a:srgbClr val="FFFFFF"/>
                </a:solidFill>
              </a:rPr>
              <a:t>|  Experiments &amp; </a:t>
            </a:r>
            <a:r>
              <a:rPr lang="en-US" sz="1400" b="1" dirty="0" smtClean="0">
                <a:solidFill>
                  <a:srgbClr val="FFFFFF"/>
                </a:solidFill>
              </a:rPr>
              <a:t>Results</a:t>
            </a:r>
            <a:r>
              <a:rPr lang="ar-DZ" sz="1400" b="1" dirty="0" smtClean="0">
                <a:solidFill>
                  <a:srgbClr val="FFFFFF"/>
                </a:solidFill>
              </a:rPr>
              <a:t> </a:t>
            </a:r>
            <a:r>
              <a:rPr lang="fr-FR" sz="1400" b="1" dirty="0">
                <a:solidFill>
                  <a:srgbClr val="FFFFFF"/>
                </a:solidFill>
              </a:rPr>
              <a:t> (</a:t>
            </a:r>
            <a:r>
              <a:rPr lang="fr-FR" sz="1400" b="1" dirty="0" err="1">
                <a:solidFill>
                  <a:srgbClr val="FFFFFF"/>
                </a:solidFill>
              </a:rPr>
              <a:t>Comparison</a:t>
            </a:r>
            <a:r>
              <a:rPr lang="fr-FR" sz="1400" b="1" dirty="0">
                <a:solidFill>
                  <a:srgbClr val="FFFFFF"/>
                </a:solidFill>
              </a:rPr>
              <a:t> and </a:t>
            </a:r>
            <a:r>
              <a:rPr lang="fr-FR" sz="1400" b="1" dirty="0" smtClean="0">
                <a:solidFill>
                  <a:srgbClr val="FFFFFF"/>
                </a:solidFill>
              </a:rPr>
              <a:t>Observations)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30547" y="1370403"/>
            <a:ext cx="8595360" cy="3698786"/>
          </a:xfrm>
          <a:prstGeom prst="rect">
            <a:avLst/>
          </a:prstGeom>
          <a:solidFill>
            <a:srgbClr val="F1F5F4"/>
          </a:solidFill>
          <a:ln w="12700">
            <a:solidFill>
              <a:srgbClr val="D0E4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846436"/>
            <a:ext cx="8229600" cy="1136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050" b="1" dirty="0" smtClean="0">
                <a:solidFill>
                  <a:srgbClr val="1A2E2B"/>
                </a:solidFill>
              </a:rPr>
              <a:t>Model 1 Observation</a:t>
            </a:r>
            <a:r>
              <a:rPr lang="fr-FR" sz="1050" dirty="0" smtClean="0">
                <a:solidFill>
                  <a:srgbClr val="1A2E2B"/>
                </a:solidFill>
              </a:rPr>
              <a:t>: </a:t>
            </a:r>
            <a:r>
              <a:rPr lang="en-GB" sz="1050" dirty="0">
                <a:solidFill>
                  <a:srgbClr val="1A2E2B"/>
                </a:solidFill>
              </a:rPr>
              <a:t>Many classes underrepresented, large background misclassification </a:t>
            </a:r>
            <a:r>
              <a:rPr lang="en-GB" sz="1050" dirty="0" smtClean="0">
                <a:solidFill>
                  <a:srgbClr val="1A2E2B"/>
                </a:solidFill>
              </a:rPr>
              <a:t>rate</a:t>
            </a:r>
          </a:p>
          <a:p>
            <a:endParaRPr lang="en-GB" sz="1050" dirty="0" smtClean="0">
              <a:solidFill>
                <a:srgbClr val="1A2E2B"/>
              </a:solidFill>
            </a:endParaRPr>
          </a:p>
          <a:p>
            <a:r>
              <a:rPr lang="fr-FR" sz="1050" b="1" dirty="0">
                <a:solidFill>
                  <a:srgbClr val="1A2E2B"/>
                </a:solidFill>
              </a:rPr>
              <a:t>Model </a:t>
            </a:r>
            <a:r>
              <a:rPr lang="fr-FR" sz="1050" b="1" dirty="0" smtClean="0">
                <a:solidFill>
                  <a:srgbClr val="1A2E2B"/>
                </a:solidFill>
              </a:rPr>
              <a:t>2 Observations: </a:t>
            </a:r>
          </a:p>
          <a:p>
            <a:r>
              <a:rPr lang="fr-FR" sz="1050" dirty="0" smtClean="0">
                <a:solidFill>
                  <a:srgbClr val="1A2E2B"/>
                </a:solidFill>
              </a:rPr>
              <a:t>+</a:t>
            </a:r>
            <a:r>
              <a:rPr lang="fr-FR" sz="1050" dirty="0">
                <a:solidFill>
                  <a:srgbClr val="1A2E2B"/>
                </a:solidFill>
              </a:rPr>
              <a:t>72% mAP@0.5 over Model 1</a:t>
            </a:r>
          </a:p>
          <a:p>
            <a:pPr marL="171450" indent="-171450">
              <a:buFontTx/>
              <a:buChar char="-"/>
            </a:pPr>
            <a:r>
              <a:rPr lang="fr-FR" sz="1050" dirty="0" err="1" smtClean="0">
                <a:solidFill>
                  <a:srgbClr val="1A2E2B"/>
                </a:solidFill>
              </a:rPr>
              <a:t>Strong</a:t>
            </a:r>
            <a:r>
              <a:rPr lang="fr-FR" sz="1050" dirty="0" smtClean="0">
                <a:solidFill>
                  <a:srgbClr val="1A2E2B"/>
                </a:solidFill>
              </a:rPr>
              <a:t> </a:t>
            </a:r>
            <a:r>
              <a:rPr lang="fr-FR" sz="1050" dirty="0">
                <a:solidFill>
                  <a:srgbClr val="1A2E2B"/>
                </a:solidFill>
              </a:rPr>
              <a:t>diagonal in confusion matrix </a:t>
            </a:r>
            <a:r>
              <a:rPr lang="fr-FR" sz="1050" dirty="0" err="1">
                <a:solidFill>
                  <a:srgbClr val="1A2E2B"/>
                </a:solidFill>
              </a:rPr>
              <a:t>exp</a:t>
            </a:r>
            <a:r>
              <a:rPr lang="fr-FR" sz="1050" dirty="0">
                <a:solidFill>
                  <a:srgbClr val="1A2E2B"/>
                </a:solidFill>
              </a:rPr>
              <a:t>: coffee 0.60, </a:t>
            </a:r>
            <a:r>
              <a:rPr lang="fr-FR" sz="1050" dirty="0" err="1">
                <a:solidFill>
                  <a:srgbClr val="1A2E2B"/>
                </a:solidFill>
              </a:rPr>
              <a:t>lemon</a:t>
            </a:r>
            <a:r>
              <a:rPr lang="fr-FR" sz="1050" dirty="0">
                <a:solidFill>
                  <a:srgbClr val="1A2E2B"/>
                </a:solidFill>
              </a:rPr>
              <a:t> 0.54, </a:t>
            </a:r>
            <a:r>
              <a:rPr lang="fr-FR" sz="1050" dirty="0" err="1">
                <a:solidFill>
                  <a:srgbClr val="1A2E2B"/>
                </a:solidFill>
              </a:rPr>
              <a:t>broccoli</a:t>
            </a:r>
            <a:r>
              <a:rPr lang="fr-FR" sz="1050" dirty="0">
                <a:solidFill>
                  <a:srgbClr val="1A2E2B"/>
                </a:solidFill>
              </a:rPr>
              <a:t> 0.50, asparagus </a:t>
            </a:r>
            <a:r>
              <a:rPr lang="fr-FR" sz="1050" dirty="0" smtClean="0">
                <a:solidFill>
                  <a:srgbClr val="1A2E2B"/>
                </a:solidFill>
              </a:rPr>
              <a:t>0.44</a:t>
            </a:r>
          </a:p>
          <a:p>
            <a:endParaRPr lang="fr-FR" sz="1050" dirty="0">
              <a:solidFill>
                <a:srgbClr val="1A2E2B"/>
              </a:solidFill>
            </a:endParaRPr>
          </a:p>
          <a:p>
            <a:r>
              <a:rPr lang="fr-FR" sz="1050" b="1" dirty="0" smtClean="0">
                <a:solidFill>
                  <a:srgbClr val="1A2E2B"/>
                </a:solidFill>
              </a:rPr>
              <a:t>General </a:t>
            </a:r>
            <a:r>
              <a:rPr lang="fr-FR" sz="1050" b="1" dirty="0" err="1" smtClean="0">
                <a:solidFill>
                  <a:srgbClr val="1A2E2B"/>
                </a:solidFill>
              </a:rPr>
              <a:t>Comparison</a:t>
            </a:r>
            <a:r>
              <a:rPr lang="fr-FR" sz="1050" b="1" dirty="0" smtClean="0">
                <a:solidFill>
                  <a:srgbClr val="1A2E2B"/>
                </a:solidFill>
              </a:rPr>
              <a:t> and observation</a:t>
            </a:r>
          </a:p>
          <a:p>
            <a:r>
              <a:rPr lang="en-GB" sz="1050" dirty="0" smtClean="0"/>
              <a:t>- Model </a:t>
            </a:r>
            <a:r>
              <a:rPr lang="en-GB" sz="1050" dirty="0"/>
              <a:t>1 vs Model 2 comparison table: 103 classes </a:t>
            </a:r>
            <a:r>
              <a:rPr lang="en-GB" sz="1050" dirty="0" err="1"/>
              <a:t>mAP</a:t>
            </a:r>
            <a:r>
              <a:rPr lang="en-GB" sz="1050" dirty="0"/>
              <a:t>=0.1845 vs 26 classes </a:t>
            </a:r>
            <a:r>
              <a:rPr lang="en-GB" sz="1050" dirty="0" err="1"/>
              <a:t>mAP</a:t>
            </a:r>
            <a:r>
              <a:rPr lang="en-GB" sz="1050" dirty="0"/>
              <a:t>=0.3180</a:t>
            </a:r>
          </a:p>
          <a:p>
            <a:r>
              <a:rPr lang="en-GB" sz="1050" dirty="0" smtClean="0"/>
              <a:t>- Class </a:t>
            </a:r>
            <a:r>
              <a:rPr lang="en-GB" sz="1050" dirty="0"/>
              <a:t>reduction from 103 to 26 increased samples per class and improved learning</a:t>
            </a:r>
          </a:p>
          <a:p>
            <a:r>
              <a:rPr lang="en-GB" sz="1050" dirty="0"/>
              <a:t>- Transfer learning from food-domain weights enabled faster convergence</a:t>
            </a:r>
          </a:p>
          <a:p>
            <a:pPr marL="171450" indent="-171450">
              <a:buFontTx/>
              <a:buChar char="-"/>
            </a:pPr>
            <a:r>
              <a:rPr lang="en-GB" sz="1050" dirty="0" smtClean="0"/>
              <a:t>Early </a:t>
            </a:r>
            <a:r>
              <a:rPr lang="en-GB" sz="1050" dirty="0"/>
              <a:t>stopping prevented overfitting in both </a:t>
            </a:r>
            <a:r>
              <a:rPr lang="en-GB" sz="1050" dirty="0" smtClean="0"/>
              <a:t>models</a:t>
            </a:r>
          </a:p>
          <a:p>
            <a:pPr marL="171450" indent="-171450">
              <a:buFontTx/>
              <a:buChar char="-"/>
            </a:pPr>
            <a:endParaRPr lang="en-GB" sz="1050" dirty="0" smtClean="0"/>
          </a:p>
          <a:p>
            <a:r>
              <a:rPr lang="fr-FR" sz="1050" b="1" dirty="0" smtClean="0"/>
              <a:t>General </a:t>
            </a:r>
            <a:r>
              <a:rPr lang="fr-FR" sz="1050" b="1" dirty="0" err="1" smtClean="0"/>
              <a:t>Comparison</a:t>
            </a:r>
            <a:r>
              <a:rPr lang="fr-FR" sz="1050" b="1" dirty="0" smtClean="0"/>
              <a:t> </a:t>
            </a:r>
            <a:r>
              <a:rPr lang="fr-FR" sz="1050" b="1" dirty="0" err="1" smtClean="0"/>
              <a:t>with</a:t>
            </a:r>
            <a:r>
              <a:rPr lang="fr-FR" sz="1050" b="1" dirty="0" smtClean="0"/>
              <a:t> </a:t>
            </a:r>
            <a:r>
              <a:rPr lang="fr-FR" sz="1050" b="1" dirty="0" err="1" smtClean="0"/>
              <a:t>other</a:t>
            </a:r>
            <a:r>
              <a:rPr lang="fr-FR" sz="1050" b="1" dirty="0" smtClean="0"/>
              <a:t> </a:t>
            </a:r>
            <a:r>
              <a:rPr lang="fr-FR" sz="1050" b="1" dirty="0" err="1" smtClean="0"/>
              <a:t>projects</a:t>
            </a:r>
            <a:endParaRPr lang="en-US" sz="1050" b="1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7736063"/>
              </p:ext>
            </p:extLst>
          </p:nvPr>
        </p:nvGraphicFramePr>
        <p:xfrm>
          <a:off x="230547" y="535995"/>
          <a:ext cx="8500026" cy="807720"/>
        </p:xfrm>
        <a:graphic>
          <a:graphicData uri="http://schemas.openxmlformats.org/drawingml/2006/table">
            <a:tbl>
              <a:tblPr/>
              <a:tblGrid>
                <a:gridCol w="1856036"/>
                <a:gridCol w="1206230"/>
                <a:gridCol w="2001580"/>
                <a:gridCol w="1265962"/>
                <a:gridCol w="1085109"/>
                <a:gridCol w="1085109"/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Classes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 smtClean="0">
                          <a:solidFill>
                            <a:srgbClr val="FFFFFF"/>
                          </a:solidFill>
                        </a:rPr>
                        <a:t>maP@0.5          mAP@0.5:0.95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Epochs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E2B"/>
                          </a:solidFill>
                        </a:rPr>
                        <a:t>Model 1 — Full Training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2B"/>
                          </a:solidFill>
                        </a:rPr>
                        <a:t>103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 smtClean="0">
                          <a:solidFill>
                            <a:srgbClr val="1A2E2B"/>
                          </a:solidFill>
                        </a:rPr>
                        <a:t>  0.1845                     0.1243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2B"/>
                          </a:solidFill>
                        </a:rPr>
                        <a:t>0.2988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2B"/>
                          </a:solidFill>
                        </a:rPr>
                        <a:t>0.2302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2B"/>
                          </a:solidFill>
                        </a:rPr>
                        <a:t>68 / 100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D3B38"/>
                          </a:solidFill>
                        </a:rPr>
                        <a:t>Model 2 — Fine-tuned ✦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3B38"/>
                          </a:solidFill>
                        </a:rPr>
                        <a:t>26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 smtClean="0">
                          <a:solidFill>
                            <a:srgbClr val="0D3B38"/>
                          </a:solidFill>
                        </a:rPr>
                        <a:t>   0.3180                          0.2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3B38"/>
                          </a:solidFill>
                        </a:rPr>
                        <a:t>0.3900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3B38"/>
                          </a:solidFill>
                        </a:rPr>
                        <a:t>0.3500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3B38"/>
                          </a:solidFill>
                        </a:rPr>
                        <a:t>45 / 60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F5EC"/>
                    </a:solidFill>
                  </a:tcPr>
                </a:tc>
              </a:tr>
            </a:tbl>
          </a:graphicData>
        </a:graphic>
      </p:graphicFrame>
      <p:cxnSp>
        <p:nvCxnSpPr>
          <p:cNvPr id="19" name="Connecteur droit 18"/>
          <p:cNvCxnSpPr/>
          <p:nvPr/>
        </p:nvCxnSpPr>
        <p:spPr>
          <a:xfrm>
            <a:off x="4221804" y="502920"/>
            <a:ext cx="9727" cy="910931"/>
          </a:xfrm>
          <a:prstGeom prst="line">
            <a:avLst/>
          </a:prstGeom>
          <a:ln>
            <a:solidFill>
              <a:srgbClr val="CFE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Imag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094" y="3458660"/>
            <a:ext cx="5314221" cy="161052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3B38"/>
          </a:solidFill>
          <a:ln w="12700">
            <a:solidFill>
              <a:srgbClr val="0D3B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smtClean="0">
                <a:solidFill>
                  <a:srgbClr val="FFFFFF"/>
                </a:solidFill>
              </a:rPr>
              <a:t>10</a:t>
            </a:r>
            <a:r>
              <a:rPr lang="en-US" sz="1400" b="1" dirty="0" smtClean="0">
                <a:solidFill>
                  <a:srgbClr val="FFFFFF"/>
                </a:solidFill>
              </a:rPr>
              <a:t>  </a:t>
            </a:r>
            <a:r>
              <a:rPr lang="en-US" sz="1400" b="1" dirty="0">
                <a:solidFill>
                  <a:srgbClr val="FFFFFF"/>
                </a:solidFill>
              </a:rPr>
              <a:t>|  Future Perspectives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685800"/>
            <a:ext cx="2743200" cy="1920240"/>
          </a:xfrm>
          <a:prstGeom prst="rect">
            <a:avLst/>
          </a:prstGeom>
          <a:solidFill>
            <a:srgbClr val="F1F5F4"/>
          </a:solidFill>
          <a:ln w="12700">
            <a:solidFill>
              <a:srgbClr val="D0E4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685800"/>
            <a:ext cx="2743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8503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3B38"/>
                </a:solidFill>
              </a:rPr>
              <a:t>Larger Model Backbone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38328" y="1344168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Upgrade to YOLOv8m-seg or YOLOv8l-seg for greater representational capacity and improved accuracy on complex scenes.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685800"/>
            <a:ext cx="2743200" cy="1920240"/>
          </a:xfrm>
          <a:prstGeom prst="rect">
            <a:avLst/>
          </a:prstGeom>
          <a:solidFill>
            <a:srgbClr val="F1F5F4"/>
          </a:solidFill>
          <a:ln w="12700">
            <a:solidFill>
              <a:srgbClr val="D0E4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685800"/>
            <a:ext cx="2743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54780" y="87782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3B38"/>
                </a:solidFill>
              </a:rPr>
              <a:t>Expanded Dataset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310128" y="1344168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Incorporate additional food image datasets and synthetic data generation to address the limited samples per class </a:t>
            </a:r>
            <a:r>
              <a:rPr lang="en-US" sz="1050" dirty="0" smtClean="0">
                <a:solidFill>
                  <a:srgbClr val="64748B"/>
                </a:solidFill>
              </a:rPr>
              <a:t>issue and add other cuisines as Arabic etc.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72200" y="685800"/>
            <a:ext cx="2743200" cy="1920240"/>
          </a:xfrm>
          <a:prstGeom prst="rect">
            <a:avLst/>
          </a:prstGeom>
          <a:solidFill>
            <a:srgbClr val="F1F5F4"/>
          </a:solidFill>
          <a:ln w="12700">
            <a:solidFill>
              <a:srgbClr val="D0E4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685800"/>
            <a:ext cx="2743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8503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3B38"/>
                </a:solidFill>
              </a:rPr>
              <a:t>Advanced Augmentation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81928" y="1344168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Apply mixup, copy-paste, and style transfer augmentations to better handle visually similar food categories.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" y="2788920"/>
            <a:ext cx="2743200" cy="1920240"/>
          </a:xfrm>
          <a:prstGeom prst="rect">
            <a:avLst/>
          </a:prstGeom>
          <a:solidFill>
            <a:srgbClr val="F1F5F4"/>
          </a:solidFill>
          <a:ln w="12700">
            <a:solidFill>
              <a:srgbClr val="D0E4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2788920"/>
            <a:ext cx="2743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295351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3B38"/>
                </a:solidFill>
              </a:rPr>
              <a:t>RGB-D Integration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38328" y="3447288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Integrate depth sensors for precise 3D portion size estimation, enabling clinically accurate calorie quantification.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0" y="2788920"/>
            <a:ext cx="2743200" cy="1920240"/>
          </a:xfrm>
          <a:prstGeom prst="rect">
            <a:avLst/>
          </a:prstGeom>
          <a:solidFill>
            <a:srgbClr val="F1F5F4"/>
          </a:solidFill>
          <a:ln w="12700">
            <a:solidFill>
              <a:srgbClr val="D0E4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788920"/>
            <a:ext cx="2743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29260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954780" y="295351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 smtClean="0">
                <a:solidFill>
                  <a:srgbClr val="0D3B38"/>
                </a:solidFill>
              </a:rPr>
              <a:t>Developing an App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72200" y="2746313"/>
            <a:ext cx="2743200" cy="1920240"/>
          </a:xfrm>
          <a:prstGeom prst="rect">
            <a:avLst/>
          </a:prstGeom>
          <a:solidFill>
            <a:srgbClr val="F1F5F4"/>
          </a:solidFill>
          <a:ln w="12700">
            <a:solidFill>
              <a:srgbClr val="D0E4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200" y="2788920"/>
            <a:ext cx="2743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21"/>
          <p:cNvSpPr/>
          <p:nvPr/>
        </p:nvSpPr>
        <p:spPr>
          <a:xfrm>
            <a:off x="3310128" y="3447288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1050" dirty="0">
                <a:solidFill>
                  <a:srgbClr val="728095"/>
                </a:solidFill>
              </a:rPr>
              <a:t>Converting </a:t>
            </a:r>
            <a:r>
              <a:rPr lang="en-GB" sz="1050" dirty="0" err="1">
                <a:solidFill>
                  <a:srgbClr val="728095"/>
                </a:solidFill>
              </a:rPr>
              <a:t>Wajbati</a:t>
            </a:r>
            <a:r>
              <a:rPr lang="en-GB" sz="1050" dirty="0">
                <a:solidFill>
                  <a:srgbClr val="728095"/>
                </a:solidFill>
              </a:rPr>
              <a:t> into a mobile app would improve accessibility and user experience by enabling instant meal capture and easier calorie tracking. It would also support push notifications, health integrations, and future real-time AI features directly on smartphones</a:t>
            </a:r>
            <a:r>
              <a:rPr lang="en-GB" sz="1050" dirty="0"/>
              <a:t>.</a:t>
            </a:r>
            <a:endParaRPr lang="en-US" sz="1050" dirty="0"/>
          </a:p>
        </p:txBody>
      </p:sp>
      <p:sp>
        <p:nvSpPr>
          <p:cNvPr id="35" name="Text 25"/>
          <p:cNvSpPr/>
          <p:nvPr/>
        </p:nvSpPr>
        <p:spPr>
          <a:xfrm>
            <a:off x="6699440" y="29489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 smtClean="0">
                <a:solidFill>
                  <a:srgbClr val="0D3B38"/>
                </a:solidFill>
              </a:rPr>
              <a:t>Migration to An Algerian VPS</a:t>
            </a:r>
            <a:endParaRPr lang="en-US" sz="1150" dirty="0"/>
          </a:p>
        </p:txBody>
      </p:sp>
      <p:sp>
        <p:nvSpPr>
          <p:cNvPr id="36" name="Text 21"/>
          <p:cNvSpPr/>
          <p:nvPr/>
        </p:nvSpPr>
        <p:spPr>
          <a:xfrm>
            <a:off x="6300216" y="3465576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1050" dirty="0">
                <a:solidFill>
                  <a:srgbClr val="728095"/>
                </a:solidFill>
              </a:rPr>
              <a:t>Future improvements may include migrating the website from a local deployment to a scalable cloud-based architecture. This migration would improve performance, reliability, and the ability to support a larger number of simultaneous </a:t>
            </a:r>
            <a:r>
              <a:rPr lang="en-GB" sz="1050" dirty="0" smtClean="0">
                <a:solidFill>
                  <a:srgbClr val="728095"/>
                </a:solidFill>
              </a:rPr>
              <a:t>users</a:t>
            </a:r>
            <a:r>
              <a:rPr lang="en-US" sz="1050" dirty="0" smtClean="0">
                <a:solidFill>
                  <a:srgbClr val="728095"/>
                </a:solidFill>
              </a:rPr>
              <a:t>.</a:t>
            </a:r>
            <a:endParaRPr lang="en-US" sz="1050" dirty="0">
              <a:solidFill>
                <a:srgbClr val="728095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3B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1828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 smtClean="0">
                <a:solidFill>
                  <a:srgbClr val="FFFFFF">
                    <a:alpha val="50000"/>
                  </a:srgbClr>
                </a:solidFill>
              </a:rPr>
              <a:t>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19456" cy="21945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23444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</a:rPr>
              <a:t>Designed and developed a full-stack AI-powered dietary assessment web platform named Wajbati.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938528"/>
            <a:ext cx="219456" cy="21945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89280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</a:rPr>
              <a:t>Trained YOLOv8s-seg on FoodInsSeg (103 classes) achieving mAP@0.5 = 0.1845 as a food-domain baseline.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596896"/>
            <a:ext cx="219456" cy="21945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551176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</a:rPr>
              <a:t>Fine-tuned on 26 selected classes via transfer learning, improving mAP@0.5 to 0.318 — a 72% gain.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255264"/>
            <a:ext cx="219456" cy="21945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3209544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</a:rPr>
              <a:t>Delivered a working client-server system with nutritionist booking, calorie tracking, and progress monitoring.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913632"/>
            <a:ext cx="219456" cy="21945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86791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</a:rPr>
              <a:t>Identified clear directions for future improvement including larger backbones and expanded datasets.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4663440"/>
            <a:ext cx="82296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736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</a:rPr>
              <a:t>Thank you for your attention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963</Words>
  <Application>Microsoft Office PowerPoint</Application>
  <PresentationFormat>Affichage à l'écran (16:9)</PresentationFormat>
  <Paragraphs>192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Wajbati - AI-Assisted Calorie Tracking</dc:title>
  <dc:subject>PptxGenJS Presentation</dc:subject>
  <dc:creator>PptxGenJS</dc:creator>
  <cp:lastModifiedBy>yah04</cp:lastModifiedBy>
  <cp:revision>17</cp:revision>
  <dcterms:created xsi:type="dcterms:W3CDTF">2026-05-19T00:09:29Z</dcterms:created>
  <dcterms:modified xsi:type="dcterms:W3CDTF">2026-05-22T16:04:26Z</dcterms:modified>
</cp:coreProperties>
</file>